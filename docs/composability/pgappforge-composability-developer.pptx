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0" y="0"/>
            <a:ext cx="3502152" cy="6858000"/>
          </a:xfrm>
          <a:prstGeom prst="rect">
            <a:avLst/>
          </a:prstGeom>
          <a:solidFill>
            <a:srgbClr val="143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2011680" cy="25603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DEVELOPER CONFERENCE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7772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200" b="1">
                <a:solidFill>
                  <a:srgbClr val="FFFFFF"/>
                </a:solidFill>
                <a:latin typeface="Calibri"/>
              </a:rPr>
              <a:t>PgAppForge</a:t>
            </a:r>
          </a:p>
          <a:p>
            <a:r>
              <a:rPr sz="4200" b="1">
                <a:solidFill>
                  <a:srgbClr val="1A56DB"/>
                </a:solidFill>
                <a:latin typeface="Calibri"/>
              </a:rPr>
              <a:t>Composability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E2E8F0"/>
                </a:solidFill>
                <a:latin typeface="Calibri"/>
              </a:rPr>
              <a:t>11 Primitives That Let You Compose Any ERP Vertical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Africa-First  ·  Python  ·  PostgreSQL  ·  Open Source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37160"/>
            <a:ext cx="2011680" cy="2560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F172A"/>
                </a:solidFill>
                <a:latin typeface="Calibri"/>
              </a:rPr>
              <a:t>ERP Systems Trap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064240" cy="25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000">
                <a:solidFill>
                  <a:srgbClr val="0F172A"/>
                </a:solidFill>
                <a:latin typeface="Calibri"/>
              </a:rPr>
              <a:t>✗  Customization hell: touching core code = upgrade nightmares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0F172A"/>
                </a:solidFill>
                <a:latin typeface="Calibri"/>
              </a:rPr>
              <a:t>✗  Plugin lock-in: Plugin A can't extend Plugin B's models without forking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0F172A"/>
                </a:solidFill>
                <a:latin typeface="Calibri"/>
              </a:rPr>
              <a:t>✗  Cross-domain gaps: loyalty + mobile money + tax need custom glue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40312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37160"/>
            <a:ext cx="2011680" cy="25603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F172A"/>
                </a:solidFill>
                <a:latin typeface="Calibri"/>
              </a:rPr>
              <a:t>11 Composition Primitives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064240" cy="254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6DB"/>
                </a:solidFill>
                <a:latin typeface="Calibri"/>
              </a:rPr>
              <a:t>Core Primitives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0F172A"/>
                </a:solidFill>
                <a:latin typeface="Calibri"/>
              </a:rPr>
              <a:t>●  Event Router (glob patterns)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0F172A"/>
                </a:solidFill>
                <a:latin typeface="Calibri"/>
              </a:rPr>
              <a:t>●  Model Mixin Registry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0F172A"/>
                </a:solidFill>
                <a:latin typeface="Calibri"/>
              </a:rPr>
              <a:t>●  Sub-workflow Composition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0F172A"/>
                </a:solidFill>
                <a:latin typeface="Calibri"/>
              </a:rPr>
              <a:t>●  Rule → Event Bridge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0F172A"/>
                </a:solidFill>
                <a:latin typeface="Calibri"/>
              </a:rPr>
              <a:t>●  Permission Algebra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0F172A"/>
                </a:solidFill>
                <a:latin typeface="Calibri"/>
              </a:rPr>
              <a:t>●  PDL Schema Extension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Calibri"/>
              </a:rPr>
              <a:t>Advanced Primitives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0F172A"/>
                </a:solidFill>
                <a:latin typeface="Calibri"/>
              </a:rPr>
              <a:t>●  Semantic Metric Registry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0F172A"/>
                </a:solidFill>
                <a:latin typeface="Calibri"/>
              </a:rPr>
              <a:t>●  View Slot Injection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0F172A"/>
                </a:solidFill>
                <a:latin typeface="Calibri"/>
              </a:rPr>
              <a:t>●  AI Composable Pipeline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0F172A"/>
                </a:solidFill>
                <a:latin typeface="Calibri"/>
              </a:rPr>
              <a:t>●  Cross-Tenant Aggregation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0F172A"/>
                </a:solidFill>
                <a:latin typeface="Calibri"/>
              </a:rPr>
              <a:t>●  GraphQL Federation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0760" y="1600200"/>
            <a:ext cx="19050" cy="4572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640312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37160"/>
            <a:ext cx="2011680" cy="25603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PRIMITIVE 1 — EVENT 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172A"/>
                </a:solidFill>
                <a:latin typeface="Calibri"/>
              </a:rPr>
              <a:t>Event Router: React to Anything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064240" cy="254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2286000"/>
          </a:xfrm>
          <a:prstGeom prst="roundRect">
            <a:avLst>
              <a:gd name="adj" fmla="val 20000"/>
            </a:avLst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709928"/>
            <a:ext cx="10552176" cy="20665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Courier New"/>
              </a:rPr>
              <a:t>@on_event('finance.ar.invoice.*')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>def sync_to_tax(event_type, payload, tenant_id):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>    etims.submit(payload['invoice_id'])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>emit('finance.ar.invoice.approved',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>     {'invoice_id': inv.id}, tenant_id=tid, session=session)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160520"/>
            <a:ext cx="2377440" cy="36576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A56DB"/>
                </a:solidFill>
                <a:latin typeface="Calibri"/>
              </a:rPr>
              <a:t>✓  Glob patterns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4160520"/>
            <a:ext cx="2377440" cy="36576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A56DB"/>
                </a:solidFill>
                <a:latin typeface="Calibri"/>
              </a:rPr>
              <a:t>✓  Exception isolation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4160520"/>
            <a:ext cx="2377440" cy="36576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A56DB"/>
                </a:solidFill>
                <a:latin typeface="Calibri"/>
              </a:rPr>
              <a:t>✓  Durable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869680" y="4160520"/>
            <a:ext cx="2377440" cy="36576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A56DB"/>
                </a:solidFill>
                <a:latin typeface="Calibri"/>
              </a:rPr>
              <a:t>✓  Multi-worker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70916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Events are durable, namespaced by plugin+domain, and processed in isolation per handler.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40312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37160"/>
            <a:ext cx="2011680" cy="25603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PRIMITIVE 2 — MODEL MIXIN REGISTRY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172A"/>
                </a:solidFill>
                <a:latin typeface="Calibri"/>
              </a:rPr>
              <a:t>Model Mixin Registry: Extend Any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064240" cy="254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2560320"/>
          </a:xfrm>
          <a:prstGeom prst="roundRect">
            <a:avLst>
              <a:gd name="adj" fmla="val 20000"/>
            </a:avLst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709928"/>
            <a:ext cx="10552176" cy="2340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Courier New"/>
              </a:rPr>
              <a:t>class LCMixin: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>    letter_of_credit_id = sa.Column(sa.String(36))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>    lc_expiry_date = sa.Column(sa.Date)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>register_mixin(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>    'pgappforge.plugins.erp.finance.ar.models.ARInvoice',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>    LCMixin, priority=10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>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343400"/>
            <a:ext cx="10881360" cy="59436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40740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5803D"/>
                </a:solidFill>
                <a:latin typeface="Calibri"/>
              </a:rPr>
              <a:t>ℹ  Applied before SQLAlchemy mapper configuration — no monkey-patching, no model forking.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40312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37160"/>
            <a:ext cx="2011680" cy="2560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PRIMITIVE 5 — PERMISSION ALGEBRA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Calibri"/>
              </a:rPr>
              <a:t>Permission Algebra: Business Logic, Not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064240" cy="25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2926080"/>
          </a:xfrm>
          <a:prstGeom prst="roundRect">
            <a:avLst>
              <a:gd name="adj" fmla="val 20000"/>
            </a:avLst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709928"/>
            <a:ext cx="10552176" cy="2706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Courier New"/>
              </a:rPr>
              <a:t>approve_loan = AllOf(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>    HasRole('loan_officer'),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>    AnyOf(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>        HasRole('credit_committee'),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>        HasPermission('credit.emergency_override'),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>    ),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>)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>@require_policy(approve_loan)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>def approve(self, loan_id): 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75488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Composable policy objects — no permission spreadsheet, no spaghetti if-else chains.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40312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37160"/>
            <a:ext cx="2011680" cy="2560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PRIMITIVE 9 — AI COMPOSABLE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0F172A"/>
                </a:solidFill>
                <a:latin typeface="Calibri"/>
              </a:rPr>
              <a:t>AI Composable Pipeline: The Runnable Protocol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064240" cy="25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2377440"/>
          </a:xfrm>
          <a:prstGeom prst="roundRect">
            <a:avLst>
              <a:gd name="adj" fmla="val 20000"/>
            </a:avLst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709928"/>
            <a:ext cx="10552176" cy="21579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Courier New"/>
              </a:rPr>
              <a:t>pipeline = (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>    SQLStep("SELECT * FROM fin_ar_invoice WHERE status='OVERDUE'")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>    | LLMStep(system="Summarise for the CFO.")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>    | FormatStep("CFO Report:\n{value}")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>)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>result = pipeline.invoke({"tenant_id": tid}, session=session)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206240"/>
            <a:ext cx="10881360" cy="50292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2519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C3AED"/>
                </a:solidFill>
                <a:latin typeface="Calibri"/>
              </a:rPr>
              <a:t>Inspired by LangChain LCEL  ·  Works with any LiteLLM model  ·  Tenant-scoped execution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40312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37160"/>
            <a:ext cx="2011680" cy="25603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PRIMITIVE 6 — PDL SCHEMA EXTENSION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F172A"/>
                </a:solidFill>
                <a:latin typeface="Calibri"/>
              </a:rPr>
              <a:t>PDL Schema Extension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064240" cy="254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2926080"/>
          </a:xfrm>
          <a:prstGeom prst="roundRect">
            <a:avLst>
              <a:gd name="adj" fmla="val 20000"/>
            </a:avLst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709928"/>
            <a:ext cx="10552176" cy="2706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Courier New"/>
              </a:rPr>
              <a:t>entities: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>  - name: LoyalCustomer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>    table: crm_loyal_customer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>    extends: pgappforge.plugins.erp.crm.prm.models.PartnerAccount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>    fields: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>      - name: points_balance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>        type: integer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>      - name: tier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>        type: string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>        default: "bronze"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75488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One YAML file drives: model class · Alembic migration · REST API · OpenAPI schema · tests.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40312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37160"/>
            <a:ext cx="2011680" cy="25603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PRIMITIVE 7 — SEMANTIC METRIC REGISTRY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F172A"/>
                </a:solidFill>
                <a:latin typeface="Calibri"/>
              </a:rPr>
              <a:t>Semantic Metric Registry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064240" cy="254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3200400"/>
          </a:xfrm>
          <a:prstGeom prst="roundRect">
            <a:avLst>
              <a:gd name="adj" fmla="val 20000"/>
            </a:avLst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709928"/>
            <a:ext cx="10552176" cy="29809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Courier New"/>
              </a:rPr>
              <a:t>register_metric(Metric(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>    name='finance.ar.revenue',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>    model_path='...ARInvoice',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>    field='total_amount_cents',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>    agg='sum',  # additive: safe to sum across groups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>))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>results = query_metrics(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>    ['finance.ar.revenue', 'crm.deals_won', 'hcm.headcount_cost'],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>    group_by=['tenant_id'], session=session,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40312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37160"/>
            <a:ext cx="2011680" cy="25603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PRIMITIVE 8 — VIEW SLOT INJECTION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F172A"/>
                </a:solidFill>
                <a:latin typeface="Calibri"/>
              </a:rPr>
              <a:t>View Slot Injection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064240" cy="254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2468880"/>
          </a:xfrm>
          <a:prstGeom prst="roundRect">
            <a:avLst>
              <a:gd name="adj" fmla="val 20000"/>
            </a:avLst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709928"/>
            <a:ext cx="10552176" cy="22494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Courier New"/>
              </a:rPr>
              <a:t>@slot_provider('customer.detail.sidebar', priority=10)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>def loyalty_widget(context: dict) -&gt; str: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>    return f'&lt;div&gt;Points: {get_points(context["customer_id"])}&lt;/div&gt;'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># In your Jinja2 template: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># {{ render_slot('customer.detail.sidebar', ctx) 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9768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Any plugin can inject UI widgets into any named slot — zero coupling to the host view.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40312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37160"/>
            <a:ext cx="2011680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REAL-WORLD EXAMPLE — SACCO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Calibri"/>
              </a:rPr>
              <a:t>Real-World Composition: SACCO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064240" cy="25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411480" cy="4114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66420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F172A"/>
                </a:solidFill>
                <a:latin typeface="Calibri"/>
              </a:rPr>
              <a:t>Member joins → KYC workflow  (sub-workflow composition)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450592"/>
            <a:ext cx="411480" cy="4114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4688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F172A"/>
                </a:solidFill>
                <a:latin typeface="Calibri"/>
              </a:rPr>
              <a:t>Loan application → AllOf(loan_officer, AnyOf(manager, committee))  (permission algebra)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255264"/>
            <a:ext cx="411480" cy="4114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27355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F172A"/>
                </a:solidFill>
                <a:latin typeface="Calibri"/>
              </a:rPr>
              <a:t>Loan approved → emit('sacco.loan.approved')  (event router)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059936"/>
            <a:ext cx="411480" cy="4114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078224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F172A"/>
                </a:solidFill>
                <a:latin typeface="Calibri"/>
              </a:rPr>
              <a:t>EventRouter → eTIMS + MTN MoMo + SMS  (3 handlers, one event)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864608"/>
            <a:ext cx="411480" cy="4114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882896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F172A"/>
                </a:solidFill>
                <a:latin typeface="Calibri"/>
              </a:rPr>
              <a:t>Repayment → Loyalty points → Dashboard slot updates  (metric + view slots)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40312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37160"/>
            <a:ext cx="2011680" cy="25603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VISUAL DESIGNER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Calibri"/>
              </a:rPr>
              <a:t>588 Capability Models — Visual Designer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064240" cy="254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900">
                <a:solidFill>
                  <a:srgbClr val="0F172A"/>
                </a:solidFill>
                <a:latin typeface="Calibri"/>
              </a:rPr>
              <a:t>→  Import any of 588 pre-built capability models from 8 domains</a:t>
            </a:r>
          </a:p>
          <a:p>
            <a:pPr>
              <a:spcBef>
                <a:spcPts val="400"/>
              </a:spcBef>
            </a:pPr>
            <a:r>
              <a:rPr sz="1900">
                <a:solidFill>
                  <a:srgbClr val="0F172A"/>
                </a:solidFill>
                <a:latin typeface="Calibri"/>
              </a:rPr>
              <a:t>→  Draw FK relationships (auto-layout with barycenter crossing minimization)</a:t>
            </a:r>
          </a:p>
          <a:p>
            <a:pPr>
              <a:spcBef>
                <a:spcPts val="400"/>
              </a:spcBef>
            </a:pPr>
            <a:r>
              <a:rPr sz="1900">
                <a:solidFill>
                  <a:srgbClr val="0F172A"/>
                </a:solidFill>
                <a:latin typeface="Calibri"/>
              </a:rPr>
              <a:t>→  Generate: model + migration + REST API + tests + Dockerfile + K8s</a:t>
            </a:r>
          </a:p>
          <a:p>
            <a:pPr>
              <a:spcBef>
                <a:spcPts val="400"/>
              </a:spcBef>
            </a:pPr>
            <a:r>
              <a:rPr sz="1900">
                <a:solidFill>
                  <a:srgbClr val="0F172A"/>
                </a:solidFill>
                <a:latin typeface="Calibri"/>
              </a:rPr>
              <a:t>→  One YAML schema → complete deployable service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852160"/>
            <a:ext cx="10881360" cy="54864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91616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56DB"/>
                </a:solidFill>
                <a:latin typeface="Courier New"/>
              </a:rPr>
              <a:t>flask forge designer --open    |    flask forge gen pdl schema.pdl.yaml --with-docker --with-k8s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40312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37160"/>
            <a:ext cx="2011680" cy="25603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COMPETITIVE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F172A"/>
                </a:solidFill>
                <a:latin typeface="Calibri"/>
              </a:rPr>
              <a:t>Comparison vs Best-in-Class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064240" cy="254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2560320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Feature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600200"/>
            <a:ext cx="2377440" cy="5029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PgAppForge</a:t>
            </a:r>
          </a:p>
        </p:txBody>
      </p:sp>
      <p:sp>
        <p:nvSpPr>
          <p:cNvPr id="8" name="Rectangle 7"/>
          <p:cNvSpPr/>
          <p:nvPr/>
        </p:nvSpPr>
        <p:spPr>
          <a:xfrm>
            <a:off x="5577840" y="1600200"/>
            <a:ext cx="1737360" cy="5029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Odoo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0" y="1600200"/>
            <a:ext cx="1737360" cy="5029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JHipster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52560" y="1600200"/>
            <a:ext cx="1737360" cy="5029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SAP B1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103120"/>
            <a:ext cx="2560320" cy="502920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3A8A"/>
                </a:solidFill>
                <a:latin typeface="Calibri"/>
              </a:rPr>
              <a:t>Model inheritance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2103120"/>
            <a:ext cx="2377440" cy="50292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✅ Mixin registry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77840" y="2103120"/>
            <a:ext cx="1737360" cy="50292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✅ _inherit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2103120"/>
            <a:ext cx="1737360" cy="50292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52560" y="2103120"/>
            <a:ext cx="1737360" cy="50292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606040"/>
            <a:ext cx="2560320" cy="502920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3A8A"/>
                </a:solidFill>
                <a:latin typeface="Calibri"/>
              </a:rPr>
              <a:t>Policy algebra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0" y="2606040"/>
            <a:ext cx="23774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✅ AllOf/AnyOf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77840" y="2606040"/>
            <a:ext cx="17373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❌ flat ACL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0" y="2606040"/>
            <a:ext cx="17373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52560" y="2606040"/>
            <a:ext cx="17373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108960"/>
            <a:ext cx="2560320" cy="502920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3A8A"/>
                </a:solidFill>
                <a:latin typeface="Calibri"/>
              </a:rPr>
              <a:t>AI pipeline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0" y="3108960"/>
            <a:ext cx="2377440" cy="50292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✅ Runnable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77840" y="3108960"/>
            <a:ext cx="1737360" cy="50292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0" y="3108960"/>
            <a:ext cx="1737360" cy="50292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52560" y="3108960"/>
            <a:ext cx="1737360" cy="50292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3611880"/>
            <a:ext cx="2560320" cy="502920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3A8A"/>
                </a:solidFill>
                <a:latin typeface="Calibri"/>
              </a:rPr>
              <a:t>Africa connectors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0" y="3611880"/>
            <a:ext cx="23774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✅ 10 connectors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77840" y="3611880"/>
            <a:ext cx="17373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0" y="3611880"/>
            <a:ext cx="17373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❌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52560" y="3611880"/>
            <a:ext cx="17373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❌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4114800"/>
            <a:ext cx="2560320" cy="502920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3A8A"/>
                </a:solidFill>
                <a:latin typeface="Calibri"/>
              </a:rPr>
              <a:t>GraphQL federation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0" y="4114800"/>
            <a:ext cx="2377440" cy="50292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✅ Apollo v2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77840" y="4114800"/>
            <a:ext cx="1737360" cy="50292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0" y="4114800"/>
            <a:ext cx="1737360" cy="50292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❌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52560" y="4114800"/>
            <a:ext cx="1737360" cy="50292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640312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37160"/>
            <a:ext cx="2011680" cy="2560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PRIMITIVES 10 &amp; 11 — GRAPHQL + CROSS-TENANT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0F172A"/>
                </a:solidFill>
                <a:latin typeface="Calibri"/>
              </a:rPr>
              <a:t>GraphQL Federation + Cross-Tenant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064240" cy="25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  <a:latin typeface="Calibri"/>
              </a:rPr>
              <a:t>GraphQL Federation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57400"/>
            <a:ext cx="5303520" cy="1463040"/>
          </a:xfrm>
          <a:prstGeom prst="roundRect">
            <a:avLst>
              <a:gd name="adj" fmla="val 20000"/>
            </a:avLst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167128"/>
            <a:ext cx="4974336" cy="12435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Courier New"/>
              </a:rPr>
              <a:t>@federated_type(key='id', plugin='finance.ar')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>class ARInvoice: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>    id: str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>    total_amount_cents: 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56DB"/>
                </a:solidFill>
                <a:latin typeface="Calibri"/>
              </a:rPr>
              <a:t>Cross-Tenant Aggregation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057400"/>
            <a:ext cx="5303520" cy="1463040"/>
          </a:xfrm>
          <a:prstGeom prst="roundRect">
            <a:avLst>
              <a:gd name="adj" fmla="val 20000"/>
            </a:avLst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2167128"/>
            <a:ext cx="4974336" cy="12435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Courier New"/>
              </a:rPr>
              <a:t>with SystemSession(session,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>        caller_user_id='admin',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>        reason='billing'):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>    summary = aggregator.get_platform_summary(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>        session)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4048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Federation: expose any plugin type to a unified GraphQL schema.
Cross-tenant: platform-level aggregation with full audit trail.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40312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37160"/>
            <a:ext cx="2011680" cy="25603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GET STARTED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Getting Started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064240" cy="254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1645920"/>
          </a:xfrm>
          <a:prstGeom prst="roundRect">
            <a:avLst>
              <a:gd name="adj" fmla="val 20000"/>
            </a:avLst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709928"/>
            <a:ext cx="10552176" cy="1426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Courier New"/>
              </a:rPr>
              <a:t>pip install pgappforge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>flask forge gen pdl schema.pdl.yaml --with-docker --with-k8s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>flask forge designer --open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290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E2E8F0"/>
                </a:solidFill>
                <a:latin typeface="Calibri"/>
              </a:rPr>
              <a:t>→  Define your domain schema in PDL YAML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E2E8F0"/>
                </a:solidFill>
                <a:latin typeface="Calibri"/>
              </a:rPr>
              <a:t>→  Generate models, migrations, REST API, and tests in one command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E2E8F0"/>
                </a:solidFill>
                <a:latin typeface="Calibri"/>
              </a:rPr>
              <a:t>→  Open the Visual Designer — drag, drop, connect, deploy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E2E8F0"/>
                </a:solidFill>
                <a:latin typeface="Calibri"/>
              </a:rPr>
              <a:t>→  Compose plugins with event routing, mixins, and policy algebra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5897880"/>
            <a:ext cx="10881360" cy="502920"/>
          </a:xfrm>
          <a:prstGeom prst="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96188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56DB"/>
                </a:solidFill>
                <a:latin typeface="Calibri"/>
              </a:rPr>
              <a:t>docs.pgappforge.io    |    github.com/pgappforge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40312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0" y="0"/>
            <a:ext cx="3502152" cy="6858000"/>
          </a:xfrm>
          <a:prstGeom prst="rect">
            <a:avLst/>
          </a:prstGeom>
          <a:solidFill>
            <a:srgbClr val="143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461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A56DB"/>
                </a:solidFill>
                <a:latin typeface="Calibri"/>
              </a:rPr>
              <a:t>Compose Everything. Deploy Anywhere. Africa First.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2E8F0"/>
                </a:solidFill>
                <a:latin typeface="Calibri"/>
              </a:rPr>
              <a:t>Q &amp; 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Africa-First  ·  Python  ·  PostgreSQL  ·  Open Source  ·  pgappforge.io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