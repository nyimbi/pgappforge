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20116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SEED ROUND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PgAppForge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DBEAFE"/>
                </a:solidFill>
                <a:latin typeface="Calibri"/>
              </a:rPr>
              <a:t>The Composable ERP Platform
for African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4A3B8"/>
                </a:solidFill>
                <a:latin typeface="Calibri"/>
              </a:rPr>
              <a:t>Compose Everything. Deploy Anywhere. Africa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Confidential — For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$2.3B Market. 80% Underserved.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474720" cy="502920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347472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A56DB"/>
                </a:solidFill>
                <a:latin typeface="Calibri"/>
              </a:rPr>
              <a:t>$2.3B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BEAFE"/>
                </a:solidFill>
                <a:latin typeface="Calibri"/>
              </a:rPr>
              <a:t>African ERP market,
growing 18% annually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280160"/>
            <a:ext cx="3474720" cy="502920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280160"/>
            <a:ext cx="347472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7373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A580C"/>
                </a:solidFill>
                <a:latin typeface="Calibri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5661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BEAFE"/>
                </a:solidFill>
                <a:latin typeface="Calibri"/>
              </a:rPr>
              <a:t>of African SMEs use
spreadsheets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280160"/>
            <a:ext cx="3474720" cy="502920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280160"/>
            <a:ext cx="347472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6" y="17373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59669"/>
                </a:solidFill>
                <a:latin typeface="Calibri"/>
              </a:rPr>
              <a:t>$1T+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5661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BEAFE"/>
                </a:solidFill>
                <a:latin typeface="Calibri"/>
              </a:rPr>
              <a:t>annual mobile money
transaction volume,
none integrated with ERP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African Governments Mandate Real-Time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078992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3712464"/>
            <a:ext cx="256032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DB"/>
                </a:solidFill>
                <a:latin typeface="Calibri"/>
              </a:rPr>
              <a:t>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60520"/>
            <a:ext cx="2286000" cy="22402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160520"/>
            <a:ext cx="228600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56DB"/>
                </a:solidFill>
                <a:latin typeface="Calibri"/>
              </a:rPr>
              <a:t>KRA eTIMS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Real-time invoice submission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79" y="3712464"/>
            <a:ext cx="25603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9" y="3154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alibri"/>
              </a:rPr>
              <a:t>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4160520"/>
            <a:ext cx="2286000" cy="22402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4160520"/>
            <a:ext cx="22860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59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Uganda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59" y="4709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  <a:latin typeface="Calibri"/>
              </a:rPr>
              <a:t>URA EFRIS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59" y="5212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Electronic fiscal receipts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12464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154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160520"/>
            <a:ext cx="2286000" cy="22402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4160520"/>
            <a:ext cx="22860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Zambia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709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9669"/>
                </a:solidFill>
                <a:latin typeface="Calibri"/>
              </a:rPr>
              <a:t>ZRA Smart 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Intelligent invoice 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19" y="3712464"/>
            <a:ext cx="256032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3154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A580C"/>
                </a:solidFill>
                <a:latin typeface="Calibri"/>
              </a:rPr>
              <a:t>2025+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59" y="4160520"/>
            <a:ext cx="2286000" cy="22402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59" y="4160520"/>
            <a:ext cx="2286000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Nigeria, Tanzania,
Rwanda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709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A580C"/>
                </a:solidFill>
                <a:latin typeface="Calibri"/>
              </a:rPr>
              <a:t>FIRS / TRA / RRA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212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Following suit fast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35508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3825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DBEAFE"/>
                </a:solidFill>
                <a:latin typeface="Calibri"/>
              </a:rPr>
              <a:t>Every business needs ERP that speaks their tax authority's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Incumbent Gap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Why existing solutions leave Africa behind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517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SAP / Oracle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• $50K+ implementation cost
• No Africa fintech connectors
• 18-month deployment timelines
• Requires specialist consultants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39" y="141732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1417320"/>
            <a:ext cx="26517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Odoo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21945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• Good module ecosystem
• Sync-only, no event streaming
• No AI-native capabilities
• Limited Africa fintech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651760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ERPNext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• Open source but shallow
• No composable policy algebra
• No composable AI pipelines
• Hard to extend without forks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41732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65176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Spreadsheets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1945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• Where 80% of SMEs still live
• Zero compliance capabilities
• No scale, no audit trail
• Manual reconciliation nightmare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Composable ERP Built for Africa's Stack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PgAppForge — the platform that speaks every African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43891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5176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56DB"/>
                </a:solidFill>
                <a:latin typeface="Calibri"/>
              </a:rPr>
              <a:t>155 Domain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  <a:latin typeface="Calibri"/>
              </a:rPr>
              <a:t>Finance, GRC, HCM, CRM,
Operations, Platform — all
composable, all production-ready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417320"/>
            <a:ext cx="2651760" cy="43891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39" y="1417320"/>
            <a:ext cx="265176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1600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3317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9669"/>
                </a:solidFill>
                <a:latin typeface="Calibri"/>
              </a:rPr>
              <a:t>Africa Connectors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999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  <a:latin typeface="Calibri"/>
              </a:rPr>
              <a:t>MTN MoMo, Airtel Money,
M-Pesa, eTIMS, EFRIS, ZRA
out of the 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2651760" cy="43891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600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3317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C3AED"/>
                </a:solidFill>
                <a:latin typeface="Calibri"/>
              </a:rPr>
              <a:t>Composability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  <a:latin typeface="Calibri"/>
              </a:rPr>
              <a:t>11 primitives — compose
any vertical without coupling
or forking upstream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17320"/>
            <a:ext cx="2651760" cy="43891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17320"/>
            <a:ext cx="265176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600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A580C"/>
                </a:solidFill>
                <a:latin typeface="Calibri"/>
              </a:rPr>
              <a:t>AI-Native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01752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  <a:latin typeface="Calibri"/>
              </a:rPr>
              <a:t>LiteLLM, RAG, NL analytics,
composable agent pipelines
built into the 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11 Primitives Make Everything Possible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The Composability Moat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474720" cy="457200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47472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6DB"/>
                </a:solidFill>
                <a:latin typeface="Calibri"/>
              </a:rPr>
              <a:t>Core Primitives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Event 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98648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90088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 Mixins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648456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39896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Policy Algebra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398264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89704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Sub-workflow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417320"/>
            <a:ext cx="3474720" cy="457200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417320"/>
            <a:ext cx="3474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36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libri"/>
              </a:rPr>
              <a:t>AI &amp;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148840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224028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898648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2990088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Rule→Event Bridge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648456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739896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Metric Registry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398264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489704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PDL Extends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0999" y="1417320"/>
            <a:ext cx="3474720" cy="457200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0999" y="1417320"/>
            <a:ext cx="347472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59" y="1536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/>
              </a:rPr>
              <a:t>Integration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148840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224028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View Slots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2898648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2990088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GraphQL Federation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3648456"/>
            <a:ext cx="3108960" cy="566928"/>
          </a:xfrm>
          <a:prstGeom prst="rect">
            <a:avLst/>
          </a:prstGeom>
          <a:solidFill>
            <a:srgbClr val="1E2D50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19" y="3739896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Cross-Tenant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172200"/>
            <a:ext cx="11430000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21792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  <a:latin typeface="Calibri"/>
              </a:rPr>
              <a:t>A developer composes a SACCO + mobile money + tax platform in weeks, not months.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This Can't Be Replicated Quickly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Technology moat across three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1732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417320"/>
            <a:ext cx="35661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572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🔐  Africa Compliance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2128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A580C"/>
                </a:solidFill>
                <a:latin typeface="Calibri"/>
              </a:rPr>
              <a:t>18–24 months to build from scratch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2715768"/>
            <a:ext cx="3291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2788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eTIMS, EFRIS, ZRA, goAML,
SASRA, CRB integrations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41732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1417320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572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📚  588 Capability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2128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3AED"/>
                </a:solidFill>
                <a:latin typeface="Calibri"/>
              </a:rPr>
              <a:t>Domain expertise, not just CRUD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6" y="2715768"/>
            <a:ext cx="3291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2788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IFRS 16 lease accounting,
SoD analysis, Kanban lean,
MES OEE — pre-built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41732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417320"/>
            <a:ext cx="3566160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5727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⚙️  Composability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2128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56DB"/>
                </a:solidFill>
                <a:latin typeface="Calibri"/>
              </a:rPr>
              <a:t>Deeper than Odoo's _inherit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2715768"/>
            <a:ext cx="3291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2788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EventRouter + ModelMixins
+ PolicyAlgebra + AI Pipeline
= true composability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 Complete SACCO in 8 Weeks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Use Case — SACCO Platform 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1325880" cy="11887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132588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91639"/>
            <a:ext cx="1234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Member
KYC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3624" y="182880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7" y="1508760"/>
            <a:ext cx="1325880" cy="11887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64207" y="1508760"/>
            <a:ext cx="13258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1691639"/>
            <a:ext cx="1234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Loan
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1" y="182880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9815" y="1508760"/>
            <a:ext cx="1325880" cy="11887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9815" y="1508760"/>
            <a:ext cx="132588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535" y="1691639"/>
            <a:ext cx="1234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Committee
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423" y="1508760"/>
            <a:ext cx="1325880" cy="11887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5423" y="1508760"/>
            <a:ext cx="132588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3" y="1691639"/>
            <a:ext cx="1234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MTN MoMo
Disbursement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7" y="182880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1031" y="1508760"/>
            <a:ext cx="1325880" cy="11887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71031" y="1508760"/>
            <a:ext cx="132588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16751" y="1691639"/>
            <a:ext cx="1234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eTIMS
Invoice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5" y="182880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1508760"/>
            <a:ext cx="1325880" cy="11887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1508760"/>
            <a:ext cx="13258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691639"/>
            <a:ext cx="1234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Repayment
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3" y="182880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42247" y="1508760"/>
            <a:ext cx="1325880" cy="11887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42247" y="1508760"/>
            <a:ext cx="132588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7" y="1691639"/>
            <a:ext cx="1234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SASRA
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1" y="182880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77855" y="1508760"/>
            <a:ext cx="1325880" cy="11887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77855" y="1508760"/>
            <a:ext cx="132588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3576" y="1691639"/>
            <a:ext cx="12344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NL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16935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59669"/>
                </a:solidFill>
                <a:latin typeface="Calibri"/>
              </a:rPr>
              <a:t>Policy Algebra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57015" y="2770632"/>
            <a:ext cx="18288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154680"/>
            <a:ext cx="11247120" cy="68580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21868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BEAFE"/>
                </a:solidFill>
                <a:latin typeface="Calibri"/>
              </a:rPr>
              <a:t>💬  NL Query: "What is our NPL ratio?"  →  Instant answer via composable AI analytics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023360"/>
            <a:ext cx="11247120" cy="1097280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023360"/>
            <a:ext cx="112471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160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Full SACCO platform. 8 weeks. 2 developers.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663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BEAFE"/>
                </a:solidFill>
                <a:latin typeface="Calibri"/>
              </a:rPr>
              <a:t>Member registry → lending → disbursement → compliance → analytics — all composed, nothing forked.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Architecture: EventRouter + ModelMixins + PolicyAlgebra + MoMo connector + eTIMS connector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Trade Finance on Top of Core ERP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Use Case — Zero-fork vertical extension via ModelMixinRegistry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8463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ModelMixinRegistry adds to ARInvoice: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21408"/>
            <a:ext cx="4937760" cy="45720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8541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ourier New"/>
              </a:rPr>
              <a:t>  letter_of_credit_id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88336"/>
            <a:ext cx="4937760" cy="45720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523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ourier New"/>
              </a:rPr>
              <a:t>  lc_expiry_date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55263"/>
            <a:ext cx="4937760" cy="45720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1927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ourier New"/>
              </a:rPr>
              <a:t>  presenting_bank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22191"/>
            <a:ext cx="4937760" cy="45720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ourier New"/>
              </a:rPr>
              <a:t>  swift_code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(Finance plugin untouched — no fork required)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566928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5727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Event Flow: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03120"/>
            <a:ext cx="5303520" cy="5029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488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Calibri"/>
              </a:rPr>
              <a:t>shipment_confirmed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957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Event emitted by ShipmentView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926080"/>
            <a:ext cx="5303520" cy="5029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71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LC Drawing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186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Auto-generated via Rule→Event 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749040"/>
            <a:ext cx="5303520" cy="5029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Bank Notification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41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SWIFT MT700 payload dispatched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3159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572000"/>
            <a:ext cx="5303520" cy="50292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Finance Records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64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ARInvoice updated automatically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  <a:latin typeface="Calibri"/>
              </a:rPr>
              <a:t>All via composition — the Finance plugin is completely untouched.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588 Pre-Built Capability Models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Deep domain coverage across 8 verticals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1417320"/>
            <a:ext cx="192024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14630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A580C"/>
                </a:solidFill>
                <a:latin typeface="Calibri"/>
              </a:rPr>
              <a:t>588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23042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Total
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4389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73152" cy="5760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538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453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  <a:latin typeface="Calibri"/>
              </a:rP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5453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7647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IFRS 16, hedge accounting,
material ledger, JV accounting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84832"/>
            <a:ext cx="4389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084832"/>
            <a:ext cx="73152" cy="5760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21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GRC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1214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128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SoD analysis, ERM,
ethics hotline, anti-bribery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52344"/>
            <a:ext cx="4389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52344"/>
            <a:ext cx="73152" cy="5760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88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HCM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788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8803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099815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Recruiting, performance mgmt,
position management, payroll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19856"/>
            <a:ext cx="4389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419856"/>
            <a:ext cx="73152" cy="5760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564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4564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5478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3767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Loyalty, PRM, territory mgmt,
CPQ, field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1417320"/>
            <a:ext cx="4389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0" y="1417320"/>
            <a:ext cx="73152" cy="5760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14538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453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  <a:latin typeface="Calibri"/>
              </a:rPr>
              <a:t>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5453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17647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Capacity scheduling,
lean/kanban, MES OEE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2084832"/>
            <a:ext cx="4389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0" y="2084832"/>
            <a:ext cx="73152" cy="5760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2121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Fintech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1214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2128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Core banking, SACCO,
mobile money, trade finance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752344"/>
            <a:ext cx="4389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0" y="2752344"/>
            <a:ext cx="73152" cy="5760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2788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88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89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28803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099815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Analytics, process mining,
EDI, iPaaS, API gateway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3419856"/>
            <a:ext cx="4389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419856"/>
            <a:ext cx="73152" cy="5760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34564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Industry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4564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180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35478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767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Agri, health, education,
government, construction, energy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JDL Studio for Africa's ERPs — and More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One schema to rule them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8686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Any of 588 capability models from 8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39"/>
            <a:ext cx="5486400" cy="8686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5175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4495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Drag-and-drop FK relationships, crossing minimization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486400" cy="8686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YAML → model + migration + REST API + tests + Dockerfile + K8s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09159"/>
            <a:ext cx="5486400" cy="8686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709159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75487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807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Apply migrations in one command, zero manual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63040"/>
            <a:ext cx="5394960" cy="20116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463040"/>
            <a:ext cx="5394960" cy="320040"/>
          </a:xfrm>
          <a:prstGeom prst="rect">
            <a:avLst/>
          </a:prstGeom>
          <a:solidFill>
            <a:srgbClr val="1E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 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847088"/>
            <a:ext cx="51206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ourier New"/>
              </a:rPr>
              <a:t>$ flask forge gen pdl schema.yaml \
    --with-k8s \
    --apply-migrations
✓ Models generated (12 files)
✓ REST APIs scaffolded
✓ Tests written
✓ Dockerfile + K8s manifests
✓ Migrations applied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57600"/>
            <a:ext cx="5394960" cy="30175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657600"/>
            <a:ext cx="5394960" cy="274320"/>
          </a:xfrm>
          <a:prstGeom prst="rect">
            <a:avLst/>
          </a:prstGeom>
          <a:solidFill>
            <a:srgbClr val="1E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675887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  schema.yaml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77639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BEAFE"/>
                </a:solidFill>
                <a:latin typeface="Courier New"/>
              </a:rPr>
              <a:t>entity: LoanApplication
extends: [SACCOMixin, KYCMixin]
fields:
  - name: amount
    type: Decimal
    validators: [min:1000]
  - name: purpose
    type: str
connectors: [mtn_momo, etims]
policy: committee_approval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Open Core + Commercial Modules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Multi-stream revenue with viral developer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51760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79" y="1536192"/>
            <a:ext cx="114300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799" y="1554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Open Source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  <a:latin typeface="Calibri"/>
              </a:rPr>
              <a:t>Free forever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23774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Community grows the ecosystem. Developers build on PgAppForge.
Network effects compound.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39" y="141732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39" y="1417320"/>
            <a:ext cx="265176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1536192"/>
            <a:ext cx="114300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554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Recurring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8999" y="1572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Compliance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8999" y="20848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$X / month / tenant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8999" y="2606040"/>
            <a:ext cx="23774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8999" y="269748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eTIMS, EFRIS, ZRA — required by law.
High retention, recurring, defensible.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1732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26517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1536192"/>
            <a:ext cx="11430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1554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572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AI Modules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0848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$X /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606040"/>
            <a:ext cx="23774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69748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NL analytics, predictive scoring,
composable agent pipelines.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417320"/>
            <a:ext cx="26517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1417320"/>
            <a:ext cx="26517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61320" y="1536192"/>
            <a:ext cx="114300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1554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15727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Enterprise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0848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$X / year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2606040"/>
            <a:ext cx="23774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69748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SLA-backed support, dedicated CSM,
priority security patches.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solidFill>
            <a:srgbClr val="1E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0167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BEAFE"/>
                </a:solidFill>
                <a:latin typeface="Calibri"/>
              </a:rPr>
              <a:t>SI Partner Program: 20% first-year revenue share — incentivises certified integrators to sell and deploy PgAppForge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Developer-Led to Enterprise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Go-to-Market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43891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5176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🛠️  Developer-Led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377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Open source + GitHub
African dev communities
Hackathons + bootcamps
Dev-first documentation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39" y="1417320"/>
            <a:ext cx="2651760" cy="43891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1417320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🤝  SI Partnerships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2194560"/>
            <a:ext cx="2377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5 certified integrators
Kenya / Uganda / Tanzania
/ Zambia coverage
Revenue share incentives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51760" cy="43891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65176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📱  Vertical 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2377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SACCO platform builders
Trade finance boutiques
Insurtech developers
Agri-fin startups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417320"/>
            <a:ext cx="2651760" cy="43891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65176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554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🏦  Enterprise 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194560"/>
            <a:ext cx="23774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Tier-1 banks
Mobile network operators
Government agencies
Internal tool teams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89320"/>
            <a:ext cx="11430000" cy="6858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062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BEAFE"/>
                </a:solidFill>
                <a:latin typeface="Calibri"/>
              </a:rPr>
              <a:t>Developer adoption → SI deployment → Enterprise land-and-expand — each layer feeds the 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Early Signals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Platform capabilities already built — not vaporware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057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0574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A56DB"/>
                </a:solidFill>
                <a:latin typeface="Calibri"/>
              </a:rPr>
              <a:t>155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  <a:latin typeface="Calibri"/>
              </a:rPr>
              <a:t>domain modules across
8 service families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169164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50791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(live)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417320"/>
            <a:ext cx="2057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4328" y="1417320"/>
            <a:ext cx="205740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1600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59669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788920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  <a:latin typeface="Calibri"/>
              </a:rPr>
              <a:t>mobile money &amp;
payment connectors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7208" y="4023360"/>
            <a:ext cx="169164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8" y="4050791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(live)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2896" y="1417320"/>
            <a:ext cx="2057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82896" y="1417320"/>
            <a:ext cx="205740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82896" y="1600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A580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788920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  <a:latin typeface="Calibri"/>
              </a:rPr>
              <a:t>African tax authorities
integrated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5776" y="4023360"/>
            <a:ext cx="169164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4050791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KE / UG / ZM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1464" y="1417320"/>
            <a:ext cx="2057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41464" y="1417320"/>
            <a:ext cx="20574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41464" y="1600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7C3AED"/>
                </a:solidFill>
                <a:latin typeface="Calibri"/>
              </a:rPr>
              <a:t>588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2788920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  <a:latin typeface="Calibri"/>
              </a:rPr>
              <a:t>pre-built capability
models in library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24344" y="4023360"/>
            <a:ext cx="1691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4344" y="4050791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(catalogued)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00032" y="1417320"/>
            <a:ext cx="2057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00032" y="1417320"/>
            <a:ext cx="20574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16002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56DB"/>
                </a:solidFill>
                <a:latin typeface="Calibri"/>
              </a:rPr>
              <a:t>&lt;10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2788920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  <a:latin typeface="Calibri"/>
              </a:rPr>
              <a:t>PDL schema → fully
deployable 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2" y="4023360"/>
            <a:ext cx="169164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82912" y="4050791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(benchmarked)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06440"/>
            <a:ext cx="114300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704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  <a:latin typeface="Calibri"/>
              </a:rPr>
              <a:t>All capabilities above are implemented and testable today. The 588-model library and 10 connectors represent genuine engineering investment — not placeholder features.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Seed Round: $[X]M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Use of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448056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5176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A56DB"/>
                </a:solidFill>
                <a:latin typeface="Calibri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07792"/>
            <a:ext cx="2286000" cy="27432"/>
          </a:xfrm>
          <a:prstGeom prst="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Calibri"/>
              </a:rPr>
              <a:t>• 5 senior engineers (backend + platform)
• Nigeria FIRS + Tanzania TRA compliance modules
• AI features: predictive scoring, NL analytics v2
• Performance, security hardening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39" y="1417320"/>
            <a:ext cx="2651760" cy="448056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39" y="1417320"/>
            <a:ext cx="265176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59669"/>
                </a:solidFill>
                <a:latin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377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Pilot Deployments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907792"/>
            <a:ext cx="2286000" cy="27432"/>
          </a:xfrm>
          <a:prstGeom prst="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8999" y="29718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Calibri"/>
              </a:rPr>
              <a:t>• 3 anchor customers at cost (KE / UG / ZM)
• Customer success embedded support
• Case study and reference material development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2651760" cy="448056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3AED"/>
                </a:solidFill>
                <a:latin typeface="Calibr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377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Partnerships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07792"/>
            <a:ext cx="2286000" cy="27432"/>
          </a:xfrm>
          <a:prstGeom prst="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718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Calibri"/>
              </a:rPr>
              <a:t>• SI certification program (5 partners)
• Developer evangelism and community building
• Conference presence in Nairobi, Kampala, Lusaka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417320"/>
            <a:ext cx="2651760" cy="448056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417320"/>
            <a:ext cx="265176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A580C"/>
                </a:solidFill>
                <a:latin typeface="Calibri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3774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2907792"/>
            <a:ext cx="2286000" cy="27432"/>
          </a:xfrm>
          <a:prstGeom prst="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9718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Calibri"/>
              </a:rPr>
              <a:t>• Legal (IP, entity structure, contracts)
• Security audit (SOC 2 readiness)
• Cloud infrastructure baseline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Path to Series A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18-Month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1069848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39112" y="4023360"/>
            <a:ext cx="21945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13832" y="4023360"/>
            <a:ext cx="21945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34272" y="4023360"/>
            <a:ext cx="21945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333756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17320"/>
            <a:ext cx="3337560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  <a:latin typeface="Calibri"/>
              </a:rPr>
              <a:t>Month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109728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148840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5 certified SI partners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62072"/>
            <a:ext cx="109728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862072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10 live deployments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75304"/>
            <a:ext cx="109728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575304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Nigeria FIRS compliance module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88536"/>
            <a:ext cx="109728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288536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Developer community: 500+ GitHub stars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6512" y="1417320"/>
            <a:ext cx="333756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96512" y="141732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3672" y="15544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Month 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2148840"/>
            <a:ext cx="1097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4" y="2148840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50 live deployments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2862072"/>
            <a:ext cx="1097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4" y="2862072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Pan-East-Africa coverage (KE/UG/TZ/ZM/RW)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3672" y="3575304"/>
            <a:ext cx="1097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3984" y="3575304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$Xk ARR — compliance module revenue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33672" y="4288536"/>
            <a:ext cx="1097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4" y="4288536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Tanzania TRA compliance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81544" y="1417320"/>
            <a:ext cx="333756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81544" y="1417320"/>
            <a:ext cx="333756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4" y="15544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Month 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18704" y="2148840"/>
            <a:ext cx="109728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9016" y="2148840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Series A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18704" y="2862072"/>
            <a:ext cx="109728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9016" y="2862072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West Africa expansion (NG/GH)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18704" y="3575304"/>
            <a:ext cx="109728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9016" y="3575304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$XM ARR run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18704" y="4288536"/>
            <a:ext cx="109728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9016" y="4288536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20+ certified SI partners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897880"/>
            <a:ext cx="11430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5897880"/>
            <a:ext cx="114300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984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Target: Series A metrics achieved by Month 18 — $XM ARR, 50+ live deployments, West Africa beachhead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Compliance Window Is Open</a:t>
            </a:r>
          </a:p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Why Now — three converging forces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17320"/>
            <a:ext cx="3474720" cy="448056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417320"/>
            <a:ext cx="347472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  <a:latin typeface="Calibri"/>
              </a:rPr>
              <a:t>Tax Mandate
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2402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Real-time compliance required by law — businesses MUST act.
Every new mandate is a forcing function to upgrade from spreadsheets.
KE, UG, ZM live. NG, TZ, RW imminent.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4251960"/>
            <a:ext cx="3200400" cy="59436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427939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  <a:latin typeface="Calibri"/>
              </a:rPr>
              <a:t>5 countries
mandated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3474720" cy="448056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417320"/>
            <a:ext cx="347472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/>
              </a:rPr>
              <a:t>Mobile Money
Maturity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402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MTN MoMo, Airtel Money, M-Pesa APIs are stable,
well-documented, and at scale.
$1T+ annual transaction volume with no ERP integration layer.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251960"/>
            <a:ext cx="3200400" cy="59436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27939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/>
              </a:rPr>
              <a:t>$1T+
annually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2" y="1417320"/>
            <a:ext cx="3474720" cy="448056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992" y="1417320"/>
            <a:ext cx="3474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Calibri"/>
              </a:rPr>
              <a:t>LLM Cost
Collapse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2402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AI-powered ERP analytics are now affordable for African SMEs.
$0.001/query means NL business intelligence is viable.
PgAppForge ships AI-native from day 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2" y="4251960"/>
            <a:ext cx="3200400" cy="59436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427939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libri"/>
              </a:rPr>
              <a:t>$0.001
per query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1430000" cy="6217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1447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Calibri"/>
              </a:rPr>
              <a:t>18–24 months to establish market position before SAP / Oracle respond.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Most Composable ERP
for Africa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8046720" cy="1005840"/>
          </a:xfrm>
          <a:prstGeom prst="rect">
            <a:avLst/>
          </a:prstGeom>
          <a:solidFill>
            <a:srgbClr val="14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731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7680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DBEAFE"/>
                </a:solidFill>
                <a:latin typeface="Calibri"/>
              </a:rPr>
              <a:t>"Compose Everything.
Deploy Anywhere. Africa First."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1600200" cy="1188720"/>
          </a:xfrm>
          <a:prstGeom prst="rect">
            <a:avLst/>
          </a:prstGeom>
          <a:solidFill>
            <a:srgbClr val="1A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1363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580C"/>
                </a:solidFill>
                <a:latin typeface="Calibri"/>
              </a:rPr>
              <a:t>155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Calibri"/>
              </a:rPr>
              <a:t>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840480"/>
            <a:ext cx="1600200" cy="1188720"/>
          </a:xfrm>
          <a:prstGeom prst="rect">
            <a:avLst/>
          </a:prstGeom>
          <a:solidFill>
            <a:srgbClr val="1A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391363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580C"/>
                </a:solidFill>
                <a:latin typeface="Calibri"/>
              </a:rPr>
              <a:t>588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52628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Calibri"/>
              </a:rPr>
              <a:t>Cap.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840480"/>
            <a:ext cx="1600200" cy="1188720"/>
          </a:xfrm>
          <a:prstGeom prst="rect">
            <a:avLst/>
          </a:prstGeom>
          <a:solidFill>
            <a:srgbClr val="1A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91363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580C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Calibri"/>
              </a:rPr>
              <a:t>Connectors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840480"/>
            <a:ext cx="1600200" cy="1188720"/>
          </a:xfrm>
          <a:prstGeom prst="rect">
            <a:avLst/>
          </a:prstGeom>
          <a:solidFill>
            <a:srgbClr val="1A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91363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580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52628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Calibri"/>
              </a:rPr>
              <a:t>Tax APIs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03520"/>
            <a:ext cx="7772400" cy="1280160"/>
          </a:xfrm>
          <a:prstGeom prst="rect">
            <a:avLst/>
          </a:prstGeom>
          <a:solidFill>
            <a:srgbClr val="0F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76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Get in Touch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6072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ourier New"/>
              </a:rPr>
              <a:t>GitHub:   github.com/your-org/pgappforge
Email:    founders@pgappforge.io
Website:  pgappforge.io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Confidential — For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